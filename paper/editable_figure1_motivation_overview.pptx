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4592" y="164592"/>
            <a:ext cx="6355080" cy="9464040"/>
          </a:xfrm>
          <a:prstGeom prst="roundRect">
            <a:avLst/>
          </a:prstGeom>
          <a:solidFill>
            <a:srgbClr val="FDFBF6"/>
          </a:solidFill>
          <a:ln w="12700">
            <a:solidFill>
              <a:srgbClr val="A3C1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" y="164592"/>
            <a:ext cx="6355080" cy="640080"/>
          </a:xfrm>
          <a:prstGeom prst="roundRect">
            <a:avLst/>
          </a:prstGeom>
          <a:solidFill>
            <a:srgbClr val="225269"/>
          </a:solidFill>
          <a:ln>
            <a:solidFill>
              <a:srgbClr val="22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56032"/>
            <a:ext cx="566928" cy="566928"/>
          </a:xfrm>
          <a:prstGeom prst="ellipse">
            <a:avLst/>
          </a:prstGeom>
          <a:solidFill>
            <a:srgbClr val="2252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65176"/>
            <a:ext cx="566928" cy="5303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46888"/>
            <a:ext cx="5440680" cy="4572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rial"/>
              </a:rPr>
              <a:t>Chinese landscape painting as a
structured cultural visual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" y="1124712"/>
            <a:ext cx="3749039" cy="763524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e1_panel_a_pai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124712"/>
            <a:ext cx="3749039" cy="763524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38912" y="3136392"/>
            <a:ext cx="3657599" cy="0"/>
          </a:xfrm>
          <a:prstGeom prst="line">
            <a:avLst/>
          </a:prstGeom>
          <a:ln w="15240">
            <a:solidFill>
              <a:srgbClr val="59849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8912" y="5303520"/>
            <a:ext cx="3657599" cy="0"/>
          </a:xfrm>
          <a:prstGeom prst="line">
            <a:avLst/>
          </a:prstGeom>
          <a:ln w="15240">
            <a:solidFill>
              <a:srgbClr val="59849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1719072"/>
            <a:ext cx="10058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225269"/>
                </a:solidFill>
                <a:latin typeface="Arial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0058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235934"/>
                </a:solidFill>
                <a:latin typeface="Arial"/>
              </a:rPr>
              <a:t>Midground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986016"/>
            <a:ext cx="1005840" cy="32918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60" b="1">
                <a:solidFill>
                  <a:srgbClr val="966918"/>
                </a:solidFill>
                <a:latin typeface="Arial"/>
              </a:rPr>
              <a:t>Foreground</a:t>
            </a:r>
          </a:p>
        </p:txBody>
      </p:sp>
      <p:sp>
        <p:nvSpPr>
          <p:cNvPr id="14" name="Oval 13"/>
          <p:cNvSpPr/>
          <p:nvPr/>
        </p:nvSpPr>
        <p:spPr>
          <a:xfrm>
            <a:off x="4416552" y="1280160"/>
            <a:ext cx="566928" cy="566928"/>
          </a:xfrm>
          <a:prstGeom prst="ellipse">
            <a:avLst/>
          </a:prstGeom>
          <a:noFill/>
          <a:ln w="13970">
            <a:solidFill>
              <a:srgbClr val="225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408176"/>
            <a:ext cx="301752" cy="2286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25269"/>
                </a:solidFill>
                <a:latin typeface="Arial"/>
              </a:rPr>
              <a:t>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261872"/>
            <a:ext cx="12344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25269"/>
                </a:solidFill>
                <a:latin typeface="Arial"/>
              </a:rPr>
              <a:t>spatial
hierarchy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682495"/>
            <a:ext cx="1234440" cy="6949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262C34"/>
                </a:solidFill>
                <a:latin typeface="Arial"/>
              </a:rPr>
              <a:t>clear depth ordering
of mountains, water,
and objects.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986783" y="1563624"/>
            <a:ext cx="429769" cy="841248"/>
          </a:xfrm>
          <a:prstGeom prst="line">
            <a:avLst/>
          </a:prstGeom>
          <a:ln w="15240">
            <a:solidFill>
              <a:srgbClr val="2252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416552" y="2697480"/>
            <a:ext cx="566928" cy="566928"/>
          </a:xfrm>
          <a:prstGeom prst="ellipse">
            <a:avLst/>
          </a:prstGeom>
          <a:noFill/>
          <a:ln w="13970">
            <a:solidFill>
              <a:srgbClr val="235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816352"/>
            <a:ext cx="310896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235934"/>
                </a:solidFill>
                <a:latin typeface="Arial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2679192"/>
            <a:ext cx="12344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35934"/>
                </a:solidFill>
                <a:latin typeface="Arial"/>
              </a:rPr>
              <a:t>blank
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099816"/>
            <a:ext cx="1234440" cy="6949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262C34"/>
                </a:solidFill>
                <a:latin typeface="Arial"/>
              </a:rPr>
              <a:t>intentional emptiness
creates breath and
meaning.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986783" y="2980944"/>
            <a:ext cx="429769" cy="777240"/>
          </a:xfrm>
          <a:prstGeom prst="line">
            <a:avLst/>
          </a:prstGeom>
          <a:ln w="15240">
            <a:solidFill>
              <a:srgbClr val="2359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416552" y="4114800"/>
            <a:ext cx="566928" cy="566928"/>
          </a:xfrm>
          <a:prstGeom prst="ellipse">
            <a:avLst/>
          </a:prstGeom>
          <a:noFill/>
          <a:ln w="13970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4215384"/>
            <a:ext cx="310896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262C34"/>
                </a:solidFill>
                <a:latin typeface="Arial"/>
              </a:rPr>
              <a:t>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4096512"/>
            <a:ext cx="12344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262C34"/>
                </a:solidFill>
                <a:latin typeface="Arial"/>
              </a:rPr>
              <a:t>brush-and-ink
rhythm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4517136"/>
            <a:ext cx="1234440" cy="6949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262C34"/>
                </a:solidFill>
                <a:latin typeface="Arial"/>
              </a:rPr>
              <a:t>varied brushwork,
ink intensity, and
textures convey vitality.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986783" y="4398264"/>
            <a:ext cx="429769" cy="713232"/>
          </a:xfrm>
          <a:prstGeom prst="line">
            <a:avLst/>
          </a:prstGeom>
          <a:ln w="15240">
            <a:solidFill>
              <a:srgbClr val="262C3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416552" y="5532120"/>
            <a:ext cx="566928" cy="566928"/>
          </a:xfrm>
          <a:prstGeom prst="ellipse">
            <a:avLst/>
          </a:prstGeom>
          <a:noFill/>
          <a:ln w="13970">
            <a:solidFill>
              <a:srgbClr val="AE6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641848"/>
            <a:ext cx="310896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AE642A"/>
                </a:solidFill>
                <a:latin typeface="Arial"/>
              </a:rPr>
              <a:t>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5513832"/>
            <a:ext cx="12344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AE642A"/>
                </a:solidFill>
                <a:latin typeface="Arial"/>
              </a:rPr>
              <a:t>poetic
atmosphere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02352" y="5934456"/>
            <a:ext cx="1234440" cy="6949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262C34"/>
                </a:solidFill>
                <a:latin typeface="Arial"/>
              </a:rPr>
              <a:t>evokes emotion and
literary associations.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986783" y="5815584"/>
            <a:ext cx="429769" cy="649224"/>
          </a:xfrm>
          <a:prstGeom prst="line">
            <a:avLst/>
          </a:prstGeom>
          <a:ln w="15240">
            <a:solidFill>
              <a:srgbClr val="AE6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416552" y="6949440"/>
            <a:ext cx="566928" cy="566928"/>
          </a:xfrm>
          <a:prstGeom prst="ellipse">
            <a:avLst/>
          </a:prstGeom>
          <a:noFill/>
          <a:ln w="13970">
            <a:solidFill>
              <a:srgbClr val="7A5B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35424" y="7059168"/>
            <a:ext cx="310896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A5B28"/>
                </a:solidFill>
                <a:latin typeface="Arial"/>
              </a:rPr>
              <a:t>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2352" y="6931152"/>
            <a:ext cx="12344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A5B28"/>
                </a:solidFill>
                <a:latin typeface="Arial"/>
              </a:rPr>
              <a:t>composition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2352" y="7351775"/>
            <a:ext cx="1234440" cy="6949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262C34"/>
                </a:solidFill>
                <a:latin typeface="Arial"/>
              </a:rPr>
              <a:t>arrangement follows
principles of balance
and harmony.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986783" y="7232903"/>
            <a:ext cx="429769" cy="585217"/>
          </a:xfrm>
          <a:prstGeom prst="line">
            <a:avLst/>
          </a:prstGeom>
          <a:ln w="15240">
            <a:solidFill>
              <a:srgbClr val="7A5B2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656832" y="164592"/>
            <a:ext cx="4892040" cy="9464040"/>
          </a:xfrm>
          <a:prstGeom prst="roundRect">
            <a:avLst/>
          </a:prstGeom>
          <a:solidFill>
            <a:srgbClr val="FEF2F0"/>
          </a:solidFill>
          <a:ln w="12700">
            <a:solidFill>
              <a:srgbClr val="DFA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56832" y="164592"/>
            <a:ext cx="4892040" cy="640080"/>
          </a:xfrm>
          <a:prstGeom prst="roundRect">
            <a:avLst/>
          </a:prstGeom>
          <a:solidFill>
            <a:srgbClr val="9D2D27"/>
          </a:solidFill>
          <a:ln>
            <a:solidFill>
              <a:srgbClr val="9D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66560" y="256032"/>
            <a:ext cx="566928" cy="566928"/>
          </a:xfrm>
          <a:prstGeom prst="ellipse">
            <a:avLst/>
          </a:prstGeom>
          <a:solidFill>
            <a:srgbClr val="9D2D2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265176"/>
            <a:ext cx="566928" cy="5303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24928" y="246888"/>
            <a:ext cx="3977639" cy="4572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rial"/>
              </a:rPr>
              <a:t>Why generic diffusion models
are insufficient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0" y="1060704"/>
            <a:ext cx="4572000" cy="1965960"/>
          </a:xfrm>
          <a:prstGeom prst="roundRect">
            <a:avLst/>
          </a:prstGeom>
          <a:solidFill>
            <a:srgbClr val="FDFBF6"/>
          </a:solidFill>
          <a:ln w="10160">
            <a:solidFill>
              <a:srgbClr val="DEB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>
            <a:off x="7022592" y="1243584"/>
            <a:ext cx="292608" cy="292608"/>
          </a:xfrm>
          <a:prstGeom prst="triangle">
            <a:avLst/>
          </a:prstGeom>
          <a:solidFill>
            <a:srgbClr val="9D2D27"/>
          </a:solidFill>
          <a:ln>
            <a:solidFill>
              <a:srgbClr val="9D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70064" y="1170431"/>
            <a:ext cx="3566160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D2D27"/>
                </a:solidFill>
                <a:latin typeface="Arial"/>
              </a:rPr>
              <a:t>1. structure confusion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0064" y="1444751"/>
            <a:ext cx="356616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80" b="0">
                <a:solidFill>
                  <a:srgbClr val="262C34"/>
                </a:solidFill>
                <a:latin typeface="Arial"/>
              </a:rPr>
              <a:t>foreground and background are mixed.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1216151"/>
            <a:ext cx="22860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9D2D27"/>
                </a:solidFill>
                <a:latin typeface="Arial"/>
              </a:rPr>
              <a:t>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14032" y="1792224"/>
            <a:ext cx="4059936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warning_1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1792224"/>
            <a:ext cx="4059936" cy="960120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6858000" y="3182112"/>
            <a:ext cx="4572000" cy="1965960"/>
          </a:xfrm>
          <a:prstGeom prst="roundRect">
            <a:avLst/>
          </a:prstGeom>
          <a:solidFill>
            <a:srgbClr val="FDFBF6"/>
          </a:solidFill>
          <a:ln w="10160">
            <a:solidFill>
              <a:srgbClr val="DEB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>
            <a:off x="7022592" y="3364992"/>
            <a:ext cx="292608" cy="292608"/>
          </a:xfrm>
          <a:prstGeom prst="triangle">
            <a:avLst/>
          </a:prstGeom>
          <a:solidFill>
            <a:srgbClr val="9D2D27"/>
          </a:solidFill>
          <a:ln>
            <a:solidFill>
              <a:srgbClr val="9D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0064" y="3291840"/>
            <a:ext cx="3566160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D2D27"/>
                </a:solidFill>
                <a:latin typeface="Arial"/>
              </a:rPr>
              <a:t>2. blank space treated as background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70064" y="3566160"/>
            <a:ext cx="356616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80" b="0">
                <a:solidFill>
                  <a:srgbClr val="262C34"/>
                </a:solidFill>
                <a:latin typeface="Arial"/>
              </a:rPr>
              <a:t>empty regions are either overfilled or awkward.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64240" y="3337560"/>
            <a:ext cx="22860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9D2D27"/>
                </a:solidFill>
                <a:latin typeface="Arial"/>
              </a:rPr>
              <a:t>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14032" y="3913632"/>
            <a:ext cx="124358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warning_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3913632"/>
            <a:ext cx="1243584" cy="96012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8467344" y="3913632"/>
            <a:ext cx="124358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warning_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3913632"/>
            <a:ext cx="1243584" cy="960120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858000" y="5303520"/>
            <a:ext cx="4572000" cy="1965960"/>
          </a:xfrm>
          <a:prstGeom prst="roundRect">
            <a:avLst/>
          </a:prstGeom>
          <a:solidFill>
            <a:srgbClr val="FDFBF6"/>
          </a:solidFill>
          <a:ln w="10160">
            <a:solidFill>
              <a:srgbClr val="DEB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>
            <a:off x="7022592" y="5486400"/>
            <a:ext cx="292608" cy="292608"/>
          </a:xfrm>
          <a:prstGeom prst="triangle">
            <a:avLst/>
          </a:prstGeom>
          <a:solidFill>
            <a:srgbClr val="9D2D27"/>
          </a:solidFill>
          <a:ln>
            <a:solidFill>
              <a:srgbClr val="9D2D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70064" y="5413248"/>
            <a:ext cx="3566160" cy="237744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9D2D27"/>
                </a:solidFill>
                <a:latin typeface="Arial"/>
              </a:rPr>
              <a:t>3. style drift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70064" y="5687568"/>
            <a:ext cx="3566160" cy="27432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780" b="0">
                <a:solidFill>
                  <a:srgbClr val="262C34"/>
                </a:solidFill>
                <a:latin typeface="Arial"/>
              </a:rPr>
              <a:t>inconsistent brushwork and mixed styles.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5458968"/>
            <a:ext cx="228600" cy="21945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9D2D27"/>
                </a:solidFill>
                <a:latin typeface="Arial"/>
              </a:rPr>
              <a:t>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114032" y="6035040"/>
            <a:ext cx="124358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warning_3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6035040"/>
            <a:ext cx="1243584" cy="960120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8467344" y="6035040"/>
            <a:ext cx="124358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warning_2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6035040"/>
            <a:ext cx="1243584" cy="960120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9820656" y="6035040"/>
            <a:ext cx="124358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warning_2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656" y="6035040"/>
            <a:ext cx="1243584" cy="960120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6949440" y="7918704"/>
            <a:ext cx="4306824" cy="1115568"/>
          </a:xfrm>
          <a:prstGeom prst="roundRect">
            <a:avLst/>
          </a:prstGeom>
          <a:solidFill>
            <a:srgbClr val="FFF7F4"/>
          </a:solidFill>
          <a:ln w="10160">
            <a:solidFill>
              <a:srgbClr val="DEB3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132320" y="8138160"/>
            <a:ext cx="566928" cy="566928"/>
          </a:xfrm>
          <a:prstGeom prst="ellipse">
            <a:avLst/>
          </a:prstGeom>
          <a:solidFill>
            <a:srgbClr val="9D2D2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0" y="8147304"/>
            <a:ext cx="566928" cy="5303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35824" y="8010144"/>
            <a:ext cx="3474720" cy="85953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9" b="1">
                <a:solidFill>
                  <a:srgbClr val="9D2D27"/>
                </a:solidFill>
                <a:latin typeface="Arial"/>
              </a:rPr>
              <a:t>Generic text-to-image models may mimic surface style,
but often fail to preserve composition,
blank-space organization, and stylistic consistency.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1722608" y="164592"/>
            <a:ext cx="6400800" cy="9464040"/>
          </a:xfrm>
          <a:prstGeom prst="roundRect">
            <a:avLst/>
          </a:prstGeom>
          <a:solidFill>
            <a:srgbClr val="F1F8EF"/>
          </a:solidFill>
          <a:ln w="12700">
            <a:solidFill>
              <a:srgbClr val="B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722608" y="164592"/>
            <a:ext cx="6400800" cy="640080"/>
          </a:xfrm>
          <a:prstGeom prst="roundRect">
            <a:avLst/>
          </a:prstGeom>
          <a:solidFill>
            <a:srgbClr val="4D6941"/>
          </a:solidFill>
          <a:ln>
            <a:solidFill>
              <a:srgbClr val="4D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1832336" y="256032"/>
            <a:ext cx="566928" cy="566928"/>
          </a:xfrm>
          <a:prstGeom prst="ellipse">
            <a:avLst/>
          </a:prstGeom>
          <a:solidFill>
            <a:srgbClr val="4D6941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832336" y="265176"/>
            <a:ext cx="566928" cy="53035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490704" y="246888"/>
            <a:ext cx="5486400" cy="45720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rial"/>
              </a:rPr>
              <a:t>Our culture-aware hierarchical
diffusion framework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960352" y="1124712"/>
            <a:ext cx="2514600" cy="1389888"/>
          </a:xfrm>
          <a:prstGeom prst="roundRect">
            <a:avLst/>
          </a:prstGeom>
          <a:solidFill>
            <a:srgbClr val="FDFBF6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2070080" y="1188720"/>
            <a:ext cx="2295144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1. Structured text prompt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06656" y="1472184"/>
            <a:ext cx="2221992" cy="8412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70" b="0">
                <a:solidFill>
                  <a:srgbClr val="262C34"/>
                </a:solidFill>
                <a:latin typeface="Arial"/>
              </a:rPr>
              <a:t>Misty mountains, river,
pavilion, poetic blank
space, ink-wash style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960352" y="2999232"/>
            <a:ext cx="2514600" cy="2148840"/>
          </a:xfrm>
          <a:prstGeom prst="roundRect">
            <a:avLst/>
          </a:prstGeom>
          <a:solidFill>
            <a:srgbClr val="FDFBF6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2070080" y="3072384"/>
            <a:ext cx="2295144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50" b="1">
                <a:solidFill>
                  <a:srgbClr val="235934"/>
                </a:solidFill>
                <a:latin typeface="Arial"/>
              </a:rPr>
              <a:t>2. Hierarchical structure map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070080" y="3410712"/>
            <a:ext cx="2240280" cy="1755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2070080" y="3410712"/>
            <a:ext cx="749808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15800" y="3456432"/>
            <a:ext cx="65836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570" b="0">
                <a:solidFill>
                  <a:srgbClr val="262C34"/>
                </a:solidFill>
                <a:latin typeface="Arial"/>
              </a:rPr>
              <a:t>lineart</a:t>
            </a:r>
          </a:p>
        </p:txBody>
      </p:sp>
      <p:pic>
        <p:nvPicPr>
          <p:cNvPr id="88" name="Picture 87" descr="figure1_lin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19888" y="3410712"/>
            <a:ext cx="1490472" cy="438912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12070080" y="3849624"/>
            <a:ext cx="749808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115800" y="3895344"/>
            <a:ext cx="65836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570" b="0">
                <a:solidFill>
                  <a:srgbClr val="262C34"/>
                </a:solidFill>
                <a:latin typeface="Arial"/>
              </a:rPr>
              <a:t>quantized
depth</a:t>
            </a:r>
          </a:p>
        </p:txBody>
      </p:sp>
      <p:pic>
        <p:nvPicPr>
          <p:cNvPr id="91" name="Picture 90" descr="figure1_quantized_dept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19888" y="3849624"/>
            <a:ext cx="1490472" cy="438912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2070080" y="4288536"/>
            <a:ext cx="749808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15800" y="4334255"/>
            <a:ext cx="65836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570" b="0">
                <a:solidFill>
                  <a:srgbClr val="262C34"/>
                </a:solidFill>
                <a:latin typeface="Arial"/>
              </a:rPr>
              <a:t>blank-space
mask</a:t>
            </a:r>
          </a:p>
        </p:txBody>
      </p:sp>
      <p:pic>
        <p:nvPicPr>
          <p:cNvPr id="94" name="Picture 93" descr="figure1_blank_space_ma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19888" y="4288536"/>
            <a:ext cx="1490472" cy="438912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12070080" y="4727448"/>
            <a:ext cx="749808" cy="438912"/>
          </a:xfrm>
          <a:prstGeom prst="rect">
            <a:avLst/>
          </a:prstGeom>
          <a:solidFill>
            <a:srgbClr val="FFFFFF"/>
          </a:solidFill>
          <a:ln w="571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115800" y="4773168"/>
            <a:ext cx="658368" cy="347472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570" b="0">
                <a:solidFill>
                  <a:srgbClr val="262C34"/>
                </a:solidFill>
                <a:latin typeface="Arial"/>
              </a:rPr>
              <a:t>saliency
mask</a:t>
            </a:r>
          </a:p>
        </p:txBody>
      </p:sp>
      <p:pic>
        <p:nvPicPr>
          <p:cNvPr id="97" name="Picture 96" descr="figure1_saliency_mas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19888" y="4727448"/>
            <a:ext cx="1490472" cy="438912"/>
          </a:xfrm>
          <a:prstGeom prst="rect">
            <a:avLst/>
          </a:prstGeom>
        </p:spPr>
      </p:pic>
      <p:sp>
        <p:nvSpPr>
          <p:cNvPr id="98" name="Rounded Rectangle 97"/>
          <p:cNvSpPr/>
          <p:nvPr/>
        </p:nvSpPr>
        <p:spPr>
          <a:xfrm>
            <a:off x="11960352" y="5696712"/>
            <a:ext cx="2514600" cy="1554480"/>
          </a:xfrm>
          <a:prstGeom prst="roundRect">
            <a:avLst/>
          </a:prstGeom>
          <a:solidFill>
            <a:srgbClr val="FDFBF6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070080" y="5760720"/>
            <a:ext cx="2295144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3. Style reference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2161520" y="6089904"/>
            <a:ext cx="2112264" cy="9601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figure1_style_referenc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61520" y="6089904"/>
            <a:ext cx="2112264" cy="96012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14740128" y="2999232"/>
            <a:ext cx="1143000" cy="3063240"/>
          </a:xfrm>
          <a:prstGeom prst="roundRect">
            <a:avLst/>
          </a:prstGeom>
          <a:solidFill>
            <a:srgbClr val="EDF5EA"/>
          </a:solidFill>
          <a:ln w="10795">
            <a:solidFill>
              <a:srgbClr val="4D6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849856" y="3300984"/>
            <a:ext cx="914400" cy="237744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262C34"/>
                </a:solidFill>
                <a:latin typeface="Arial"/>
              </a:rPr>
              <a:t>SDXL
+
LoRA
+
Hierarchical
Adapter
+
Style
Prompting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4474952" y="1828800"/>
            <a:ext cx="265176" cy="1764792"/>
          </a:xfrm>
          <a:prstGeom prst="line">
            <a:avLst/>
          </a:prstGeom>
          <a:ln w="27940">
            <a:solidFill>
              <a:srgbClr val="4D6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4474952" y="3986783"/>
            <a:ext cx="265176" cy="0"/>
          </a:xfrm>
          <a:prstGeom prst="line">
            <a:avLst/>
          </a:prstGeom>
          <a:ln w="27940">
            <a:solidFill>
              <a:srgbClr val="4D6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4474952" y="5605272"/>
            <a:ext cx="265176" cy="886968"/>
          </a:xfrm>
          <a:prstGeom prst="line">
            <a:avLst/>
          </a:prstGeom>
          <a:ln w="27940">
            <a:solidFill>
              <a:srgbClr val="4D69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6212312" y="1124712"/>
            <a:ext cx="2148840" cy="411480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235934"/>
                </a:solidFill>
                <a:latin typeface="Arial"/>
              </a:rPr>
              <a:t>Generated painting
(Output)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6184880" y="1719072"/>
            <a:ext cx="2084831" cy="2084831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D2C7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9" name="Picture 108" descr="figure1_output_squa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184880" y="1719072"/>
            <a:ext cx="2084831" cy="2084831"/>
          </a:xfrm>
          <a:prstGeom prst="rect">
            <a:avLst/>
          </a:prstGeom>
        </p:spPr>
      </p:pic>
      <p:cxnSp>
        <p:nvCxnSpPr>
          <p:cNvPr id="110" name="Connector 109"/>
          <p:cNvCxnSpPr/>
          <p:nvPr/>
        </p:nvCxnSpPr>
        <p:spPr>
          <a:xfrm flipV="1">
            <a:off x="15883128" y="2761488"/>
            <a:ext cx="301752" cy="1773936"/>
          </a:xfrm>
          <a:prstGeom prst="line">
            <a:avLst/>
          </a:prstGeom>
          <a:ln w="35560">
            <a:solidFill>
              <a:srgbClr val="2359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Oval 110"/>
          <p:cNvSpPr/>
          <p:nvPr/>
        </p:nvSpPr>
        <p:spPr>
          <a:xfrm>
            <a:off x="16239744" y="4828031"/>
            <a:ext cx="274320" cy="274320"/>
          </a:xfrm>
          <a:prstGeom prst="ellipse">
            <a:avLst/>
          </a:prstGeom>
          <a:solidFill>
            <a:srgbClr val="235934"/>
          </a:solidFill>
          <a:ln>
            <a:solidFill>
              <a:srgbClr val="235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276320" y="4846319"/>
            <a:ext cx="201168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6605504" y="4809744"/>
            <a:ext cx="182880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controllable composition</a:t>
            </a:r>
          </a:p>
        </p:txBody>
      </p:sp>
      <p:sp>
        <p:nvSpPr>
          <p:cNvPr id="114" name="Oval 113"/>
          <p:cNvSpPr/>
          <p:nvPr/>
        </p:nvSpPr>
        <p:spPr>
          <a:xfrm>
            <a:off x="16239744" y="5330951"/>
            <a:ext cx="274320" cy="274320"/>
          </a:xfrm>
          <a:prstGeom prst="ellipse">
            <a:avLst/>
          </a:prstGeom>
          <a:solidFill>
            <a:srgbClr val="235934"/>
          </a:solidFill>
          <a:ln>
            <a:solidFill>
              <a:srgbClr val="235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276320" y="5349239"/>
            <a:ext cx="201168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605504" y="5312664"/>
            <a:ext cx="182880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meaningful blank space</a:t>
            </a:r>
          </a:p>
        </p:txBody>
      </p:sp>
      <p:sp>
        <p:nvSpPr>
          <p:cNvPr id="117" name="Oval 116"/>
          <p:cNvSpPr/>
          <p:nvPr/>
        </p:nvSpPr>
        <p:spPr>
          <a:xfrm>
            <a:off x="16239744" y="5833871"/>
            <a:ext cx="274320" cy="274320"/>
          </a:xfrm>
          <a:prstGeom prst="ellipse">
            <a:avLst/>
          </a:prstGeom>
          <a:solidFill>
            <a:srgbClr val="235934"/>
          </a:solidFill>
          <a:ln>
            <a:solidFill>
              <a:srgbClr val="235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6276320" y="5852159"/>
            <a:ext cx="201168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6605504" y="5815583"/>
            <a:ext cx="182880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stable style</a:t>
            </a:r>
          </a:p>
        </p:txBody>
      </p:sp>
      <p:sp>
        <p:nvSpPr>
          <p:cNvPr id="120" name="Oval 119"/>
          <p:cNvSpPr/>
          <p:nvPr/>
        </p:nvSpPr>
        <p:spPr>
          <a:xfrm>
            <a:off x="16239744" y="6336792"/>
            <a:ext cx="274320" cy="274320"/>
          </a:xfrm>
          <a:prstGeom prst="ellipse">
            <a:avLst/>
          </a:prstGeom>
          <a:solidFill>
            <a:srgbClr val="235934"/>
          </a:solidFill>
          <a:ln>
            <a:solidFill>
              <a:srgbClr val="235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6276320" y="6355079"/>
            <a:ext cx="201168" cy="201168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6605504" y="6318504"/>
            <a:ext cx="1828800" cy="310896"/>
          </a:xfrm>
          <a:prstGeom prst="rect">
            <a:avLst/>
          </a:prstGeom>
          <a:noFill/>
        </p:spPr>
        <p:txBody>
          <a:bodyPr wrap="none" lIns="27432" rIns="27432" tIns="18288" bIns="18288" anchor="ctr">
            <a:spAutoFit/>
          </a:bodyPr>
          <a:lstStyle/>
          <a:p>
            <a:pPr algn="l"/>
            <a:r>
              <a:rPr sz="880" b="1">
                <a:solidFill>
                  <a:srgbClr val="235934"/>
                </a:solidFill>
                <a:latin typeface="Arial"/>
              </a:rPr>
              <a:t>high fidelity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